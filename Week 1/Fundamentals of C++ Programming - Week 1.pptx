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oppins SemiBold" panose="020B0604020202020204" charset="0"/>
      <p:regular r:id="rId15"/>
      <p:bold r:id="rId16"/>
      <p:italic r:id="rId17"/>
      <p:boldItalic r:id="rId18"/>
    </p:embeddedFont>
    <p:embeddedFont>
      <p:font typeface="Poppins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Lato" panose="020B0604020202020204" charset="0"/>
      <p:regular r:id="rId27"/>
      <p:bold r:id="rId28"/>
      <p:italic r:id="rId29"/>
      <p:boldItalic r:id="rId30"/>
    </p:embeddedFont>
    <p:embeddedFont>
      <p:font typeface="Fira Code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B8870E-5E17-4ED7-B48C-E5F323C7AEE9}">
  <a:tblStyle styleId="{16B8870E-5E17-4ED7-B48C-E5F323C7AE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472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904347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0196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8536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1575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0571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077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5705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95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6641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3519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1808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8188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3956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bdulaziz.oday.dahab@gmail.com" TargetMode="Externa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132450" y="-7255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60495" y="1166812"/>
            <a:ext cx="80710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COS112 - PROGRAMMING FUNDAMENTALS 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35467" y="1766887"/>
            <a:ext cx="852106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Introduction to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Programming with C++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524500" y="4062412"/>
            <a:ext cx="1143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748087" y="4357687"/>
            <a:ext cx="46958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Week 1: The Building Blocks of Software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659300" y="5254823"/>
            <a:ext cx="28005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Lecturer: </a:t>
            </a:r>
            <a:r>
              <a:rPr lang="en-US" sz="1650" b="1" dirty="0" smtClean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dirty="0" err="1" smtClean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Abdulaziz</a:t>
            </a:r>
            <a:r>
              <a:rPr lang="en-US" sz="1650" b="1" dirty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dirty="0" err="1" smtClean="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Oday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290899" y="2018407"/>
            <a:ext cx="161020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Module 01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60520" y="2618482"/>
            <a:ext cx="7670958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What is Programming?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524500" y="3761482"/>
            <a:ext cx="1143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286000" y="4056757"/>
            <a:ext cx="7620000" cy="23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0" marR="3810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i="1">
                <a:solidFill>
                  <a:srgbClr val="134E4A"/>
                </a:solidFill>
                <a:highlight>
                  <a:srgbClr val="F0FDFA"/>
                </a:highlight>
                <a:latin typeface="Lato"/>
                <a:ea typeface="Lato"/>
                <a:cs typeface="Lato"/>
                <a:sym typeface="Lato"/>
              </a:rPr>
              <a:t>Definition 1: Programming is the process of creating a set of instructions that tells a computer how to perform a task. It is the bridge between human logic and machine execution.</a:t>
            </a:r>
            <a:endParaRPr sz="2400" i="1">
              <a:solidFill>
                <a:srgbClr val="134E4A"/>
              </a:solidFill>
              <a:highlight>
                <a:srgbClr val="F0FDFA"/>
              </a:highlight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60265"/>
            <a:ext cx="3422600" cy="311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360265"/>
            <a:ext cx="3422600" cy="3118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2360265"/>
            <a:ext cx="3422600" cy="31183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592163" y="3512790"/>
            <a:ext cx="14001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Idea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23925" y="4112865"/>
            <a:ext cx="27368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a problem you want to solve, like calculating a grade or converting currency.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330755" y="3512790"/>
            <a:ext cx="15301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Logic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27525" y="4112865"/>
            <a:ext cx="27368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Create a step-by-step set of instructions (an Algorithm) to solve the problem.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134355" y="3512790"/>
            <a:ext cx="15301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Code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31125" y="4112865"/>
            <a:ext cx="27368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Translate your instructions into a language the computer understands (like C++).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6988" y="2760315"/>
            <a:ext cx="3905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2760315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5601" y="2760315"/>
            <a:ext cx="6477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Programming Concept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81025" y="581025"/>
            <a:ext cx="7620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145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81025" y="2686131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Translation Process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81025" y="3251657"/>
            <a:ext cx="527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Computers do not understand English. They only understand "Machine Language" (0s and 1s).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9457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009650" y="3990738"/>
            <a:ext cx="4848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 Code: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text file you write (.cpp).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09650" y="4522203"/>
            <a:ext cx="4848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Compiler: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tool that translates your text into machine code.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09650" y="5347008"/>
            <a:ext cx="4848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Executable: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final program (.exe) that runs.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1156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56030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33328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71525" y="1823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C++ Works (Compilers)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182325"/>
            <a:ext cx="76200" cy="6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259900" y="752993"/>
            <a:ext cx="120186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0" marR="3810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134E4A"/>
                </a:solidFill>
                <a:highlight>
                  <a:srgbClr val="F0FDFA"/>
                </a:highlight>
                <a:latin typeface="Lato"/>
                <a:ea typeface="Lato"/>
                <a:cs typeface="Lato"/>
                <a:sym typeface="Lato"/>
              </a:rPr>
              <a:t>Definition 2: </a:t>
            </a:r>
            <a:r>
              <a:rPr lang="en-US" sz="2400" b="1" i="1">
                <a:solidFill>
                  <a:srgbClr val="134E4A"/>
                </a:solidFill>
                <a:highlight>
                  <a:srgbClr val="F0FDFA"/>
                </a:highlight>
                <a:latin typeface="Lato"/>
                <a:ea typeface="Lato"/>
                <a:cs typeface="Lato"/>
                <a:sym typeface="Lato"/>
              </a:rPr>
              <a:t>Compiler</a:t>
            </a:r>
            <a:r>
              <a:rPr lang="en-US" sz="2400" i="1">
                <a:solidFill>
                  <a:srgbClr val="134E4A"/>
                </a:solidFill>
                <a:highlight>
                  <a:srgbClr val="F0FDFA"/>
                </a:highlight>
                <a:latin typeface="Lato"/>
                <a:ea typeface="Lato"/>
                <a:cs typeface="Lato"/>
                <a:sym typeface="Lato"/>
              </a:rPr>
              <a:t> is a software tool that translates the human-readable C++ source code into low-level machine code that a computer's processor can directly understand and execute</a:t>
            </a: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255895" y="2178397"/>
            <a:ext cx="16802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Module 02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330529" y="2778472"/>
            <a:ext cx="7530941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Anatomy of a Program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524500" y="3921472"/>
            <a:ext cx="1143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3119437" y="4216747"/>
            <a:ext cx="59531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Breaking down the "Boilerplate" code every program needs.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19150" y="3119437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Basic Program Template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19150" y="3348025"/>
            <a:ext cx="2882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#include &lt;iostream&gt;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19150" y="3805237"/>
            <a:ext cx="314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2600325" y="4033837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"Hello!"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238250" y="4262437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971675" y="426243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62750" y="2639466"/>
            <a:ext cx="48482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#include: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Tells the computer to use a library (like a toolbox).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762750" y="3464272"/>
            <a:ext cx="48482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library for Input and Output.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762750" y="3995737"/>
            <a:ext cx="48482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main():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starting point where the program begins.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62750" y="4527202"/>
            <a:ext cx="48482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std::cout: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Stands for "Character Output" (the screen).</a:t>
            </a:r>
            <a:endParaRPr/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7756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50237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03383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565302"/>
            <a:ext cx="209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Basic C++ Syntax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81025" y="581025"/>
            <a:ext cx="7620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81475" y="1166125"/>
            <a:ext cx="12018600" cy="1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0" marR="38100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134E4A"/>
                </a:solidFill>
                <a:highlight>
                  <a:srgbClr val="F0FDFA"/>
                </a:highlight>
                <a:latin typeface="Lato"/>
                <a:ea typeface="Lato"/>
                <a:cs typeface="Lato"/>
                <a:sym typeface="Lato"/>
              </a:rPr>
              <a:t>Definition 3: </a:t>
            </a:r>
            <a:r>
              <a:rPr lang="en-US" sz="2400" b="1" i="1">
                <a:solidFill>
                  <a:srgbClr val="134E4A"/>
                </a:solidFill>
                <a:highlight>
                  <a:srgbClr val="F0FDFA"/>
                </a:highlight>
                <a:latin typeface="Lato"/>
                <a:ea typeface="Lato"/>
                <a:cs typeface="Lato"/>
                <a:sym typeface="Lato"/>
              </a:rPr>
              <a:t>Syntax </a:t>
            </a:r>
            <a:r>
              <a:rPr lang="en-US" sz="2400" i="1">
                <a:solidFill>
                  <a:srgbClr val="134E4A"/>
                </a:solidFill>
                <a:highlight>
                  <a:srgbClr val="F0FDFA"/>
                </a:highlight>
                <a:latin typeface="Lato"/>
                <a:ea typeface="Lato"/>
                <a:cs typeface="Lato"/>
                <a:sym typeface="Lato"/>
              </a:rPr>
              <a:t>is the set of rules that defines how a C++ program is written and compiled</a:t>
            </a:r>
            <a:endParaRPr sz="2400" i="1">
              <a:solidFill>
                <a:srgbClr val="134E4A"/>
              </a:solidFill>
              <a:highlight>
                <a:srgbClr val="F0FDFA"/>
              </a:highlight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25972"/>
            <a:ext cx="34226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4625" y="1825972"/>
            <a:ext cx="34226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8225" y="1825972"/>
            <a:ext cx="34226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4683472"/>
            <a:ext cx="359373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 / double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81025" y="5283547"/>
            <a:ext cx="34226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Whole numbers (int) and Decimal numbers (double).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384625" y="4683472"/>
            <a:ext cx="359373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string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384625" y="5283547"/>
            <a:ext cx="34226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Text, names, or messages (e.g., "Ali").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188225" y="4683472"/>
            <a:ext cx="359373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bool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188225" y="5283547"/>
            <a:ext cx="34226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True or False decisions (On/Off switches).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Variables: Storing Data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81025" y="581025"/>
            <a:ext cx="7620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938" y="1383775"/>
            <a:ext cx="3820775" cy="25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81025" y="2729805"/>
            <a:ext cx="52768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cin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4158555"/>
            <a:ext cx="52768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CHARACTER INPUT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81025" y="4672905"/>
            <a:ext cx="52768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flows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keyboard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variable.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334125" y="2729805"/>
            <a:ext cx="52768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cout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334125" y="4158555"/>
            <a:ext cx="52768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CHARACTER OUTPUT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334125" y="4672905"/>
            <a:ext cx="52768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flows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variable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screen.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Input / Output Flow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81025" y="581025"/>
            <a:ext cx="7620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1025" y="2961382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 Math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81025" y="3561457"/>
            <a:ext cx="527685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(Addition)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(Subtraction)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(Multiplication)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(Division)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334125" y="3254722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D948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Modulo (%)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334125" y="3854797"/>
            <a:ext cx="52768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operator gives you the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remainder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a division. Example: 10 % 3 = 1.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Basic Math Operators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81025" y="581025"/>
            <a:ext cx="7620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6125" y="876300"/>
            <a:ext cx="5619750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3762375" y="1352550"/>
            <a:ext cx="490061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Lab: Interactive Greeting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055" y="2264419"/>
            <a:ext cx="3201739" cy="28634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23"/>
          <p:cNvGraphicFramePr/>
          <p:nvPr/>
        </p:nvGraphicFramePr>
        <p:xfrm>
          <a:off x="3052762" y="293176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{16B8870E-5E17-4ED7-B48C-E5F323C7AEE9}</a:tableStyleId>
              </a:tblPr>
              <a:tblGrid>
                <a:gridCol w="714375"/>
                <a:gridCol w="1733550"/>
                <a:gridCol w="3638550"/>
              </a:tblGrid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Step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C++ 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9488"/>
                    </a:solidFill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Create 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double celsius;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Get User Input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cin &gt;&gt; celsius;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Apply Formula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double fahr = (cels * 9/5) + 32;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Display Result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cout &lt;&lt; fahr;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3"/>
          <p:cNvSpPr/>
          <p:nvPr/>
        </p:nvSpPr>
        <p:spPr>
          <a:xfrm>
            <a:off x="3052762" y="4041427"/>
            <a:ext cx="714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3767137" y="4041427"/>
            <a:ext cx="1733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500687" y="4041427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3052762" y="4622452"/>
            <a:ext cx="714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3767137" y="4622452"/>
            <a:ext cx="1733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500687" y="4622452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3052762" y="5203477"/>
            <a:ext cx="714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3767137" y="5203477"/>
            <a:ext cx="1733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500687" y="5203477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052762" y="5784502"/>
            <a:ext cx="714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767137" y="5784502"/>
            <a:ext cx="1733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500687" y="5784502"/>
            <a:ext cx="36385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Lab: Temperature Converter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81025" y="581025"/>
            <a:ext cx="7620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0" y="3802409"/>
            <a:ext cx="5715000" cy="153516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4705826" y="2625179"/>
            <a:ext cx="27803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Summary &amp; Questions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3962400" y="2958554"/>
            <a:ext cx="42672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Programming is about logic and translation.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3524250" y="4088159"/>
            <a:ext cx="51435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Resources &amp; Contact: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3524250" y="4429125"/>
            <a:ext cx="51435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Email: </a:t>
            </a:r>
            <a:r>
              <a:rPr lang="en-US" sz="135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abdulaziz.oday.dahab@gmail.com</a:t>
            </a: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3524250" y="4669035"/>
            <a:ext cx="5143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Widescreen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Poppins SemiBold</vt:lpstr>
      <vt:lpstr>Poppins</vt:lpstr>
      <vt:lpstr>Calibri</vt:lpstr>
      <vt:lpstr>Lato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</cp:revision>
  <dcterms:modified xsi:type="dcterms:W3CDTF">2026-03-03T14:52:11Z</dcterms:modified>
</cp:coreProperties>
</file>